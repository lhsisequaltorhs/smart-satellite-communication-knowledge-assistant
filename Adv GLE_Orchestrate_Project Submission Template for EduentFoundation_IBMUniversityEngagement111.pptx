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83" r:id="rId2"/>
    <p:sldId id="257" r:id="rId3"/>
    <p:sldId id="282" r:id="rId4"/>
    <p:sldId id="285" r:id="rId5"/>
    <p:sldId id="278" r:id="rId6"/>
    <p:sldId id="281" r:id="rId7"/>
    <p:sldId id="279" r:id="rId8"/>
    <p:sldId id="293" r:id="rId9"/>
    <p:sldId id="294" r:id="rId10"/>
    <p:sldId id="295" r:id="rId11"/>
    <p:sldId id="264" r:id="rId12"/>
    <p:sldId id="286" r:id="rId13"/>
    <p:sldId id="287" r:id="rId14"/>
    <p:sldId id="280" r:id="rId15"/>
    <p:sldId id="288" r:id="rId16"/>
    <p:sldId id="296" r:id="rId17"/>
    <p:sldId id="297" r:id="rId18"/>
    <p:sldId id="298" r:id="rId19"/>
    <p:sldId id="299" r:id="rId20"/>
    <p:sldId id="300" r:id="rId21"/>
    <p:sldId id="276"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A6B9108B-7598-1D50-C4AA-8A38026DAEEF}" v="18" dt="2026-06-19T06:56:18.840"/>
    <p1510:client id="{CF376E3E-16AD-B220-DB03-D7511C5FAE25}" v="445" dt="2026-06-19T10:18:38.869"/>
    <p1510:client id="{E27D249D-B118-0810-7731-E1B1C378D9D3}" v="5" dt="2026-06-19T09:10:10.538"/>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51048470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06953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xmlns=""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xmlns=""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xmlns=""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xmlns=""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xmlns=""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xmlns=""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xmlns=""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xmlns=""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xmlns=""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3247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xmlns=""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xmlns=""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xmlns=""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965542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xmlns=""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xmlns=""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xmlns=""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7106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9943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52435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F97BF8-B3EC-77A2-9BFD-D66830272D56}"/>
              </a:ext>
            </a:extLst>
          </p:cNvPr>
          <p:cNvSpPr>
            <a:spLocks noGrp="1"/>
          </p:cNvSpPr>
          <p:nvPr>
            <p:ph type="title"/>
          </p:nvPr>
        </p:nvSpPr>
        <p:spPr/>
        <p:txBody>
          <a:bodyPr>
            <a:normAutofit/>
          </a:bodyPr>
          <a:lstStyle/>
          <a:p>
            <a:pPr algn="ctr"/>
            <a:r>
              <a:rPr lang="en-US" sz="6600" b="1"/>
              <a:t>IBM University Engagement Project Submission</a:t>
            </a:r>
            <a:r>
              <a:rPr lang="en-US" b="1"/>
              <a:t/>
            </a:r>
            <a:br>
              <a:rPr lang="en-US" b="1"/>
            </a:br>
            <a:endParaRPr lang="en-IN"/>
          </a:p>
        </p:txBody>
      </p:sp>
      <p:sp>
        <p:nvSpPr>
          <p:cNvPr id="3" name="Text Placeholder 2">
            <a:extLst>
              <a:ext uri="{FF2B5EF4-FFF2-40B4-BE49-F238E27FC236}">
                <a16:creationId xmlns:a16="http://schemas.microsoft.com/office/drawing/2014/main" xmlns=""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Cloud and Orchestrate</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914992319"/>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xmlns="" val="20000"/>
                    </a:ext>
                  </a:extLst>
                </a:gridCol>
                <a:gridCol w="2443374">
                  <a:extLst>
                    <a:ext uri="{9D8B030D-6E8A-4147-A177-3AD203B41FA5}">
                      <a16:colId xmlns:a16="http://schemas.microsoft.com/office/drawing/2014/main" xmlns="" val="20002"/>
                    </a:ext>
                  </a:extLst>
                </a:gridCol>
                <a:gridCol w="2443374">
                  <a:extLst>
                    <a:ext uri="{9D8B030D-6E8A-4147-A177-3AD203B41FA5}">
                      <a16:colId xmlns:a16="http://schemas.microsoft.com/office/drawing/2014/main" xmlns="" val="20003"/>
                    </a:ext>
                  </a:extLst>
                </a:gridCol>
                <a:gridCol w="2443374">
                  <a:extLst>
                    <a:ext uri="{9D8B030D-6E8A-4147-A177-3AD203B41FA5}">
                      <a16:colId xmlns:a16="http://schemas.microsoft.com/office/drawing/2014/main" xmlns=""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xmlns="" val="10000"/>
                  </a:ext>
                </a:extLst>
              </a:tr>
              <a:tr h="1193891">
                <a:tc>
                  <a:txBody>
                    <a:bodyPr/>
                    <a:lstStyle/>
                    <a:p>
                      <a:pPr marL="0" marR="0" lvl="0" indent="0" algn="l" rtl="0">
                        <a:spcBef>
                          <a:spcPts val="0"/>
                        </a:spcBef>
                        <a:spcAft>
                          <a:spcPts val="0"/>
                        </a:spcAft>
                        <a:buNone/>
                      </a:pPr>
                      <a:r>
                        <a:rPr lang="en-US" dirty="0" smtClean="0"/>
                        <a:t>BHUMIKA JITENDRASINGH CHOUDHARY</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bhumikajchoudhary07@gmail.com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8408883715</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xmlns="" val="10001"/>
                  </a:ext>
                </a:extLst>
              </a:tr>
            </a:tbl>
          </a:graphicData>
        </a:graphic>
      </p:graphicFrame>
      <p:pic>
        <p:nvPicPr>
          <p:cNvPr id="98" name="Google Shape;98;p2"/>
          <p:cNvPicPr preferRelativeResize="0"/>
          <p:nvPr/>
        </p:nvPicPr>
        <p:blipFill>
          <a:blip r:embed="rId3">
            <a:extLst>
              <a:ext uri="{28A0092B-C50C-407E-A947-70E740481C1C}">
                <a14:useLocalDpi xmlns:a14="http://schemas.microsoft.com/office/drawing/2010/main" val="0"/>
              </a:ext>
            </a:extLst>
          </a:blip>
          <a:stretch>
            <a:fillRect/>
          </a:stretch>
        </p:blipFill>
        <p:spPr>
          <a:xfrm>
            <a:off x="4133595" y="3738417"/>
            <a:ext cx="601358" cy="801811"/>
          </a:xfrm>
          <a:prstGeom prst="rect">
            <a:avLst/>
          </a:prstGeom>
          <a:noFill/>
          <a:ln>
            <a:noFill/>
          </a:ln>
        </p:spPr>
      </p:pic>
      <p:sp>
        <p:nvSpPr>
          <p:cNvPr id="4" name="TextBox 3">
            <a:extLst>
              <a:ext uri="{FF2B5EF4-FFF2-40B4-BE49-F238E27FC236}">
                <a16:creationId xmlns:a16="http://schemas.microsoft.com/office/drawing/2014/main" xmlns="" id="{A828B9EF-C084-F5D4-CA27-75AF7D995640}"/>
              </a:ext>
            </a:extLst>
          </p:cNvPr>
          <p:cNvSpPr txBox="1"/>
          <p:nvPr/>
        </p:nvSpPr>
        <p:spPr>
          <a:xfrm>
            <a:off x="1206164" y="1460724"/>
            <a:ext cx="10280254" cy="830997"/>
          </a:xfrm>
          <a:prstGeom prst="rect">
            <a:avLst/>
          </a:prstGeom>
          <a:noFill/>
        </p:spPr>
        <p:txBody>
          <a:bodyPr wrap="square" rtlCol="0">
            <a:spAutoFit/>
          </a:bodyPr>
          <a:lstStyle/>
          <a:p>
            <a:r>
              <a:rPr lang="en-US" sz="2400" b="1" dirty="0"/>
              <a:t>Domain of  Project – </a:t>
            </a:r>
            <a:r>
              <a:rPr lang="en-US" sz="2400" b="1" dirty="0" smtClean="0">
                <a:highlight>
                  <a:srgbClr val="FFFF00"/>
                </a:highlight>
              </a:rPr>
              <a:t>[</a:t>
            </a:r>
            <a:r>
              <a:rPr lang="en-US" sz="2400" b="1" dirty="0"/>
              <a:t>Electronics and Telecommunications Engineering </a:t>
            </a:r>
            <a:r>
              <a:rPr lang="en-US" sz="2400" b="1" dirty="0" smtClean="0">
                <a:highlight>
                  <a:srgbClr val="FFFF00"/>
                </a:highlight>
              </a:rPr>
              <a:t> ]</a:t>
            </a:r>
            <a:endParaRPr lang="en-IN" sz="2400" b="1" dirty="0">
              <a:highlight>
                <a:srgbClr val="FFFF00"/>
              </a:highlight>
            </a:endParaRPr>
          </a:p>
        </p:txBody>
      </p:sp>
      <p:sp>
        <p:nvSpPr>
          <p:cNvPr id="7" name="TextBox 6">
            <a:extLst>
              <a:ext uri="{FF2B5EF4-FFF2-40B4-BE49-F238E27FC236}">
                <a16:creationId xmlns:a16="http://schemas.microsoft.com/office/drawing/2014/main" xmlns=""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 </a:t>
            </a:r>
            <a:r>
              <a:rPr lang="en-US" sz="2400" b="1" dirty="0" smtClean="0">
                <a:highlight>
                  <a:srgbClr val="FFFF00"/>
                </a:highlight>
              </a:rPr>
              <a:t>[</a:t>
            </a:r>
            <a:r>
              <a:rPr lang="en-US" sz="2400" b="1" dirty="0"/>
              <a:t>Smart Satellite Communication Knowledge Assistant </a:t>
            </a:r>
            <a:r>
              <a:rPr lang="en-US" sz="2400" b="1" dirty="0" smtClean="0">
                <a:highlight>
                  <a:srgbClr val="FFFF00"/>
                </a:highlight>
              </a:rPr>
              <a:t>]</a:t>
            </a:r>
            <a:endParaRPr lang="en-IN" sz="2400" b="1" dirty="0">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C6F6745E-14BA-0766-CE1E-32E29663832D}"/>
              </a:ext>
            </a:extLst>
          </p:cNvPr>
          <p:cNvSpPr txBox="1"/>
          <p:nvPr/>
        </p:nvSpPr>
        <p:spPr>
          <a:xfrm>
            <a:off x="576072" y="1622367"/>
            <a:ext cx="10607040" cy="5293757"/>
          </a:xfrm>
          <a:prstGeom prst="rect">
            <a:avLst/>
          </a:prstGeom>
          <a:noFill/>
        </p:spPr>
        <p:txBody>
          <a:bodyPr wrap="square" rtlCol="0">
            <a:spAutoFit/>
          </a:bodyPr>
          <a:lstStyle/>
          <a:p>
            <a:pPr fontAlgn="base"/>
            <a:r>
              <a:rPr lang="en-US" sz="1800" b="1" dirty="0" smtClean="0"/>
              <a:t>The Challenge:</a:t>
            </a:r>
            <a:r>
              <a:rPr lang="en-US" sz="1800" dirty="0"/>
              <a:t> </a:t>
            </a:r>
          </a:p>
          <a:p>
            <a:r>
              <a:rPr lang="en-US" sz="1800" dirty="0"/>
              <a:t>Satellite communication systems involve complex concepts such as frequency bands, signal modulation, link budgets, and communication protocols. Engineers and students often struggle to understand these topics because the knowledge is distributed across textbooks, research papers, and technical documentation. </a:t>
            </a:r>
            <a:r>
              <a:rPr lang="en-US" sz="1800" dirty="0" smtClean="0"/>
              <a:t>Finding </a:t>
            </a:r>
            <a:r>
              <a:rPr lang="en-US" sz="1800" dirty="0"/>
              <a:t>relevant information and troubleshooting communication issues can take significant time. </a:t>
            </a:r>
          </a:p>
          <a:p>
            <a:pPr fontAlgn="base"/>
            <a:endParaRPr lang="en-US" sz="1800" b="1" dirty="0" smtClean="0"/>
          </a:p>
          <a:p>
            <a:pPr fontAlgn="base"/>
            <a:r>
              <a:rPr lang="en-US" sz="1800" b="1" dirty="0" smtClean="0"/>
              <a:t>The Objective:</a:t>
            </a:r>
            <a:endParaRPr lang="en-US" sz="1800" dirty="0"/>
          </a:p>
          <a:p>
            <a:r>
              <a:rPr lang="en-US" sz="1800" dirty="0"/>
              <a:t>Build a </a:t>
            </a:r>
            <a:r>
              <a:rPr lang="en-US" sz="1800" b="1" dirty="0"/>
              <a:t>Satellite Communication Knowledge Assistant </a:t>
            </a:r>
            <a:r>
              <a:rPr lang="en-US" sz="1800" dirty="0"/>
              <a:t>that helps users </a:t>
            </a:r>
            <a:r>
              <a:rPr lang="en-US" sz="1800" b="1" dirty="0"/>
              <a:t>understand</a:t>
            </a:r>
            <a:r>
              <a:rPr lang="en-US" sz="1800" dirty="0"/>
              <a:t> and </a:t>
            </a:r>
            <a:r>
              <a:rPr lang="en-US" sz="1800" b="1" dirty="0"/>
              <a:t>troubleshoot</a:t>
            </a:r>
            <a:r>
              <a:rPr lang="en-US" sz="1800" dirty="0"/>
              <a:t> satellite communication systems. The solution should: </a:t>
            </a:r>
          </a:p>
          <a:p>
            <a:pPr marL="285750" indent="-285750">
              <a:buFont typeface="Arial" panose="020B0604020202020204" pitchFamily="34" charset="0"/>
              <a:buChar char="•"/>
            </a:pPr>
            <a:r>
              <a:rPr lang="en-US" sz="1800" b="1" dirty="0"/>
              <a:t>Knowledge Retrieval :- </a:t>
            </a:r>
            <a:r>
              <a:rPr lang="en-US" sz="1800" dirty="0"/>
              <a:t>Extract information from satellite communication documents and technical materials. </a:t>
            </a:r>
          </a:p>
          <a:p>
            <a:pPr marL="285750" indent="-285750">
              <a:buFont typeface="Arial" panose="020B0604020202020204" pitchFamily="34" charset="0"/>
              <a:buChar char="•"/>
            </a:pPr>
            <a:r>
              <a:rPr lang="en-US" sz="1800" b="1" dirty="0"/>
              <a:t>Concept Explanation </a:t>
            </a:r>
            <a:r>
              <a:rPr lang="en-US" sz="1800" dirty="0"/>
              <a:t>:- Explain complex topics such as modulation techniques, frequency bands, and link budgets in simple language. </a:t>
            </a:r>
          </a:p>
          <a:p>
            <a:pPr marL="285750" indent="-285750">
              <a:buFont typeface="Arial" panose="020B0604020202020204" pitchFamily="34" charset="0"/>
              <a:buChar char="•"/>
            </a:pPr>
            <a:r>
              <a:rPr lang="en-US" sz="1800" b="1" dirty="0"/>
              <a:t>Troubleshooting Support </a:t>
            </a:r>
            <a:r>
              <a:rPr lang="en-US" sz="1800" dirty="0"/>
              <a:t>:- Provide guidance for solving satellite communication problems. </a:t>
            </a:r>
          </a:p>
          <a:p>
            <a:pPr marL="285750" indent="-285750">
              <a:buFont typeface="Arial" panose="020B0604020202020204" pitchFamily="34" charset="0"/>
              <a:buChar char="•"/>
            </a:pPr>
            <a:r>
              <a:rPr lang="en-US" sz="1800" b="1" dirty="0"/>
              <a:t>Conversational Interface :- </a:t>
            </a:r>
            <a:r>
              <a:rPr lang="en-US" sz="1800" dirty="0"/>
              <a:t>Allow users to ask questions and receive responses through an interactive chat interface. </a:t>
            </a:r>
          </a:p>
          <a:p>
            <a:pPr marL="285750" indent="-285750" fontAlgn="base">
              <a:buFont typeface="Arial" panose="020B0604020202020204" pitchFamily="34" charset="0"/>
              <a:buChar char="•"/>
            </a:pPr>
            <a:endParaRPr lang="en-US" sz="1800" dirty="0"/>
          </a:p>
          <a:p>
            <a:endParaRPr lang="en-IN" dirty="0"/>
          </a:p>
        </p:txBody>
      </p:sp>
      <p:sp>
        <p:nvSpPr>
          <p:cNvPr id="3" name="TextBox 2">
            <a:extLst>
              <a:ext uri="{FF2B5EF4-FFF2-40B4-BE49-F238E27FC236}">
                <a16:creationId xmlns:a16="http://schemas.microsoft.com/office/drawing/2014/main" xmlns="" id="{3847FA31-EA47-D27A-9D69-AF50A3080AEC}"/>
              </a:ext>
            </a:extLst>
          </p:cNvPr>
          <p:cNvSpPr txBox="1"/>
          <p:nvPr/>
        </p:nvSpPr>
        <p:spPr>
          <a:xfrm>
            <a:off x="576072" y="510125"/>
            <a:ext cx="10230473" cy="1692771"/>
          </a:xfrm>
          <a:prstGeom prst="rect">
            <a:avLst/>
          </a:prstGeom>
          <a:noFill/>
        </p:spPr>
        <p:txBody>
          <a:bodyPr wrap="square" rtlCol="0">
            <a:spAutoFit/>
          </a:bodyPr>
          <a:lstStyle/>
          <a:p>
            <a:pPr fontAlgn="base"/>
            <a:r>
              <a:rPr lang="en-US" sz="2800" b="1" dirty="0"/>
              <a:t>Problem Statement </a:t>
            </a:r>
            <a:r>
              <a:rPr lang="en-US" sz="2800" b="1" dirty="0" smtClean="0"/>
              <a:t>: </a:t>
            </a:r>
            <a:r>
              <a:rPr lang="en-US" sz="2800" b="1" dirty="0"/>
              <a:t>Smart Satellite Communication Knowledge Assistant </a:t>
            </a:r>
          </a:p>
          <a:p>
            <a:pPr fontAlgn="base"/>
            <a:endParaRPr lang="en-US" sz="2400" dirty="0"/>
          </a:p>
          <a:p>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4A1BF701-ABCA-4DF0-8330-B6AF71EF8E39}"/>
              </a:ext>
            </a:extLst>
          </p:cNvPr>
          <p:cNvSpPr txBox="1"/>
          <p:nvPr/>
        </p:nvSpPr>
        <p:spPr>
          <a:xfrm>
            <a:off x="576072" y="1234440"/>
            <a:ext cx="10607040" cy="5355312"/>
          </a:xfrm>
          <a:prstGeom prst="rect">
            <a:avLst/>
          </a:prstGeom>
          <a:noFill/>
        </p:spPr>
        <p:txBody>
          <a:bodyPr wrap="square" rtlCol="0">
            <a:spAutoFit/>
          </a:bodyPr>
          <a:lstStyle/>
          <a:p>
            <a:endParaRPr lang="en-US" sz="1800" dirty="0" smtClean="0"/>
          </a:p>
          <a:p>
            <a:r>
              <a:rPr lang="en-US" sz="1800" dirty="0" smtClean="0"/>
              <a:t>The </a:t>
            </a:r>
            <a:r>
              <a:rPr lang="en-US" sz="1800" dirty="0"/>
              <a:t>proposed solution is </a:t>
            </a:r>
            <a:r>
              <a:rPr lang="en-US" sz="1800" dirty="0" smtClean="0"/>
              <a:t>an </a:t>
            </a:r>
            <a:r>
              <a:rPr lang="en-US" sz="1800" b="1" dirty="0" smtClean="0"/>
              <a:t>AI-powered SatCom</a:t>
            </a:r>
            <a:r>
              <a:rPr lang="en-US" sz="1800" b="1" dirty="0"/>
              <a:t> (Satellite Communication ) </a:t>
            </a:r>
            <a:r>
              <a:rPr lang="en-US" sz="1800" b="1" dirty="0" smtClean="0"/>
              <a:t>Assistant </a:t>
            </a:r>
            <a:r>
              <a:rPr lang="en-US" sz="1800" dirty="0" smtClean="0"/>
              <a:t>built </a:t>
            </a:r>
            <a:r>
              <a:rPr lang="en-US" sz="1800" dirty="0"/>
              <a:t>using </a:t>
            </a:r>
            <a:r>
              <a:rPr lang="en-US" sz="1800" b="1" dirty="0" smtClean="0"/>
              <a:t>GitHub, and IBM watsonx.ai</a:t>
            </a:r>
            <a:r>
              <a:rPr lang="en-US" sz="1800" dirty="0" smtClean="0"/>
              <a:t> </a:t>
            </a:r>
            <a:r>
              <a:rPr lang="en-US" sz="1800" dirty="0"/>
              <a:t>to provide personalized, real-time </a:t>
            </a:r>
            <a:r>
              <a:rPr lang="en-US" sz="1800" dirty="0" smtClean="0"/>
              <a:t>assistance. </a:t>
            </a:r>
            <a:r>
              <a:rPr lang="en-US" sz="1800" dirty="0"/>
              <a:t>The system addresses challenges in </a:t>
            </a:r>
            <a:r>
              <a:rPr lang="en-US" sz="1800" dirty="0" smtClean="0"/>
              <a:t>understanding the complex satellite communication </a:t>
            </a:r>
            <a:r>
              <a:rPr lang="en-US" sz="1800" dirty="0"/>
              <a:t>systems. It is named </a:t>
            </a:r>
            <a:r>
              <a:rPr lang="en-US" sz="1800" dirty="0" err="1"/>
              <a:t>Orbitron</a:t>
            </a:r>
            <a:r>
              <a:rPr lang="en-US" sz="1800" dirty="0" smtClean="0"/>
              <a:t>.</a:t>
            </a:r>
            <a:endParaRPr lang="en-US" sz="1800" dirty="0" smtClean="0"/>
          </a:p>
          <a:p>
            <a:endParaRPr lang="en-US" sz="1800" dirty="0"/>
          </a:p>
          <a:p>
            <a:r>
              <a:rPr lang="en-US" sz="1800" dirty="0"/>
              <a:t>The </a:t>
            </a:r>
            <a:r>
              <a:rPr lang="en-US" sz="1800" b="1" dirty="0"/>
              <a:t>Smart Satellite Communication Knowledge Assistant</a:t>
            </a:r>
            <a:r>
              <a:rPr lang="en-US" sz="1800" dirty="0"/>
              <a:t> is an AI-powered virtual assistant designed to provide accurate, interactive, and easy-to-understand information about satellite communication. It serves as a centralized knowledge platform where users can ask questions in natural language and receive instant, context-aware responses on topics such as satellite systems, orbital mechanics, frequency bands, communication protocols, applications, and emerging technologies</a:t>
            </a:r>
            <a:r>
              <a:rPr lang="en-US" sz="1800" dirty="0" smtClean="0"/>
              <a:t>.</a:t>
            </a:r>
          </a:p>
          <a:p>
            <a:endParaRPr lang="en-US" sz="1800" dirty="0"/>
          </a:p>
          <a:p>
            <a:r>
              <a:rPr lang="en-US" sz="1800" dirty="0"/>
              <a:t>The assistant leverages advanced natural language processing (NLP) and retrieval-based AI to simplify complex technical concepts, making them accessible to students, educators, researchers, and professionals alike. In addition to answering queries, it can explain concepts, recommend study materials, clarify technical terminology, and assist with exam preparation or project work. By offering 24/7 access to reliable information through a conversational interface, the solution enhances learning, improves knowledge accessibility, and reduces the time required to search through multiple technical resources</a:t>
            </a:r>
            <a:r>
              <a:rPr lang="en-US" sz="1800" dirty="0" smtClean="0"/>
              <a:t>. </a:t>
            </a:r>
            <a:endParaRPr lang="en-US" sz="1800" dirty="0"/>
          </a:p>
        </p:txBody>
      </p:sp>
      <p:sp>
        <p:nvSpPr>
          <p:cNvPr id="3" name="TextBox 2">
            <a:extLst>
              <a:ext uri="{FF2B5EF4-FFF2-40B4-BE49-F238E27FC236}">
                <a16:creationId xmlns:a16="http://schemas.microsoft.com/office/drawing/2014/main" xmlns="" id="{527F30CC-07EF-8FCC-DA00-C9212F5DAECE}"/>
              </a:ext>
            </a:extLst>
          </p:cNvPr>
          <p:cNvSpPr txBox="1"/>
          <p:nvPr/>
        </p:nvSpPr>
        <p:spPr>
          <a:xfrm>
            <a:off x="576072" y="341888"/>
            <a:ext cx="10858546" cy="954107"/>
          </a:xfrm>
          <a:prstGeom prst="rect">
            <a:avLst/>
          </a:prstGeom>
          <a:noFill/>
        </p:spPr>
        <p:txBody>
          <a:bodyPr wrap="square" rtlCol="0">
            <a:spAutoFit/>
          </a:bodyPr>
          <a:lstStyle/>
          <a:p>
            <a:r>
              <a:rPr lang="en-US" sz="2800" b="1" dirty="0" smtClean="0"/>
              <a:t>Proposed Solution : </a:t>
            </a:r>
            <a:r>
              <a:rPr lang="en-US" sz="2800" b="1" dirty="0"/>
              <a:t>Smart Satellite Communication Knowledge Assistant </a:t>
            </a:r>
            <a:endParaRPr lang="en-IN" sz="28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151FBD4A-3273-E454-091D-D5B0678FC299}"/>
              </a:ext>
            </a:extLst>
          </p:cNvPr>
          <p:cNvSpPr txBox="1"/>
          <p:nvPr/>
        </p:nvSpPr>
        <p:spPr>
          <a:xfrm>
            <a:off x="777240" y="484632"/>
            <a:ext cx="7123176" cy="523220"/>
          </a:xfrm>
          <a:prstGeom prst="rect">
            <a:avLst/>
          </a:prstGeom>
          <a:noFill/>
        </p:spPr>
        <p:txBody>
          <a:bodyPr wrap="square" lIns="91440" tIns="45720" rIns="91440" bIns="45720" rtlCol="0" anchor="t">
            <a:spAutoFit/>
          </a:bodyPr>
          <a:lstStyle/>
          <a:p>
            <a:r>
              <a:rPr lang="en-US" sz="2800" b="1" dirty="0"/>
              <a:t>Technology Used</a:t>
            </a:r>
            <a:endParaRPr lang="en-IN" sz="2800" b="1" dirty="0"/>
          </a:p>
        </p:txBody>
      </p:sp>
      <p:sp>
        <p:nvSpPr>
          <p:cNvPr id="3" name="TextBox 2">
            <a:extLst>
              <a:ext uri="{FF2B5EF4-FFF2-40B4-BE49-F238E27FC236}">
                <a16:creationId xmlns:a16="http://schemas.microsoft.com/office/drawing/2014/main" xmlns="" id="{4A7608B5-9906-EFCF-959A-E89FC2E3EE19}"/>
              </a:ext>
            </a:extLst>
          </p:cNvPr>
          <p:cNvSpPr txBox="1"/>
          <p:nvPr/>
        </p:nvSpPr>
        <p:spPr>
          <a:xfrm>
            <a:off x="777240" y="1207008"/>
            <a:ext cx="10515600" cy="5047536"/>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endParaRPr lang="en-US" sz="1800" b="1" dirty="0" smtClean="0"/>
          </a:p>
          <a:p>
            <a:pPr marL="285750" indent="-285750">
              <a:buFont typeface="Arial" panose="020B0604020202020204" pitchFamily="34" charset="0"/>
              <a:buChar char="•"/>
            </a:pPr>
            <a:r>
              <a:rPr lang="en-US" sz="2000" b="1" dirty="0" smtClean="0"/>
              <a:t>IBM </a:t>
            </a:r>
            <a:r>
              <a:rPr lang="en-US" sz="2000" b="1" dirty="0"/>
              <a:t>Granite model </a:t>
            </a:r>
            <a:r>
              <a:rPr lang="en-US" sz="2000" dirty="0" smtClean="0"/>
              <a:t>– </a:t>
            </a:r>
            <a:r>
              <a:rPr lang="en-US" sz="2000" dirty="0"/>
              <a:t>ibm-granite-3-2-8b – For natural language understanding, reasoning, and personalization</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IBM Cloud </a:t>
            </a:r>
            <a:r>
              <a:rPr lang="en-US" sz="2000" dirty="0"/>
              <a:t>– It provides the infrastructure to build, deploy, and scale the </a:t>
            </a:r>
            <a:r>
              <a:rPr lang="en-US" sz="2000" dirty="0" smtClean="0"/>
              <a:t>SatCom Assistant efficiently</a:t>
            </a:r>
            <a:r>
              <a:rPr lang="en-US" sz="2000" dirty="0"/>
              <a:t>. IBM Cloud enables a </a:t>
            </a:r>
            <a:r>
              <a:rPr lang="en-US" sz="2000" b="1" dirty="0"/>
              <a:t>reliable, secure, and scalable environment</a:t>
            </a:r>
            <a:r>
              <a:rPr lang="en-US" sz="2000" dirty="0"/>
              <a:t> for deploying the </a:t>
            </a:r>
            <a:r>
              <a:rPr lang="en-US" sz="2000" dirty="0" smtClean="0"/>
              <a:t>SatCom Assistant.</a:t>
            </a: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smtClean="0"/>
              <a:t>RAG – </a:t>
            </a:r>
            <a:r>
              <a:rPr lang="en-US" sz="2000" dirty="0"/>
              <a:t>RAG to </a:t>
            </a:r>
            <a:r>
              <a:rPr lang="en-US" sz="2000" b="1" dirty="0"/>
              <a:t>fetch real data first, then generate intelligent answers</a:t>
            </a:r>
            <a:r>
              <a:rPr lang="en-US" sz="2000" dirty="0"/>
              <a:t>, making </a:t>
            </a:r>
            <a:r>
              <a:rPr lang="en-US" sz="2000" dirty="0" smtClean="0"/>
              <a:t>the SatCom Assistant </a:t>
            </a:r>
            <a:r>
              <a:rPr lang="en-US" sz="2000" dirty="0"/>
              <a:t>more trustworthy and effective.</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IBM Watsonx.ai - </a:t>
            </a:r>
            <a:r>
              <a:rPr lang="en-US" sz="2000" dirty="0"/>
              <a:t>For model deployment, embeddings, and AI </a:t>
            </a:r>
            <a:r>
              <a:rPr lang="en-US" sz="2000" dirty="0" smtClean="0"/>
              <a:t>governance.</a:t>
            </a:r>
            <a:endParaRPr lang="en-US" sz="2000" dirty="0"/>
          </a:p>
          <a:p>
            <a:pPr marL="285750" indent="-285750">
              <a:buFont typeface="Arial" panose="020B0604020202020204" pitchFamily="34" charset="0"/>
              <a:buChar char="•"/>
            </a:pPr>
            <a:endParaRPr lang="en-US" sz="2000" dirty="0"/>
          </a:p>
          <a:p>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xmlns=""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xmlns="" id="{2A145802-2DD3-EEBA-7D44-210C05B98C91}"/>
              </a:ext>
            </a:extLst>
          </p:cNvPr>
          <p:cNvSpPr/>
          <p:nvPr/>
        </p:nvSpPr>
        <p:spPr>
          <a:xfrm>
            <a:off x="639190" y="41467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800" b="1" dirty="0">
                <a:sym typeface="Times New Roman"/>
              </a:rPr>
              <a:t>Orchestrate component Used -</a:t>
            </a:r>
            <a:endParaRPr sz="2800" b="1" dirty="0">
              <a:sym typeface="Times New Roman"/>
            </a:endParaRPr>
          </a:p>
        </p:txBody>
      </p:sp>
      <p:sp>
        <p:nvSpPr>
          <p:cNvPr id="148" name="Google Shape;148;p5">
            <a:extLst>
              <a:ext uri="{FF2B5EF4-FFF2-40B4-BE49-F238E27FC236}">
                <a16:creationId xmlns:a16="http://schemas.microsoft.com/office/drawing/2014/main" xmlns=""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xmlns=""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xmlns=""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xmlns=""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xmlns=""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xmlns=""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xmlns="" id="{9BB86949-7ED1-C43B-B1E3-5122BB67A596}"/>
              </a:ext>
            </a:extLst>
          </p:cNvPr>
          <p:cNvSpPr txBox="1"/>
          <p:nvPr/>
        </p:nvSpPr>
        <p:spPr>
          <a:xfrm>
            <a:off x="639190" y="1034576"/>
            <a:ext cx="8823960" cy="5139869"/>
          </a:xfrm>
          <a:prstGeom prst="rect">
            <a:avLst/>
          </a:prstGeom>
          <a:noFill/>
        </p:spPr>
        <p:txBody>
          <a:bodyPr wrap="square" rtlCol="0">
            <a:spAutoFit/>
          </a:bodyPr>
          <a:lstStyle/>
          <a:p>
            <a:endParaRPr lang="en-US" dirty="0"/>
          </a:p>
          <a:p>
            <a:r>
              <a:rPr lang="en-US" sz="2000" b="1" dirty="0"/>
              <a:t>1) Chat Input </a:t>
            </a:r>
            <a:r>
              <a:rPr lang="en-US" sz="2000" dirty="0"/>
              <a:t>– Interface where users enter their queries, </a:t>
            </a:r>
            <a:r>
              <a:rPr lang="en-US" sz="2000" dirty="0" smtClean="0"/>
              <a:t>research paper, </a:t>
            </a:r>
            <a:r>
              <a:rPr lang="en-US" sz="2000" dirty="0"/>
              <a:t>or </a:t>
            </a:r>
            <a:r>
              <a:rPr lang="en-US" sz="2000" dirty="0" smtClean="0"/>
              <a:t>problems (text/doc/image</a:t>
            </a:r>
            <a:r>
              <a:rPr lang="en-US" sz="2000" dirty="0"/>
              <a:t>).</a:t>
            </a:r>
          </a:p>
          <a:p>
            <a:endParaRPr lang="en-US" sz="2000" dirty="0"/>
          </a:p>
          <a:p>
            <a:r>
              <a:rPr lang="en-US" sz="2000" b="1" dirty="0"/>
              <a:t>2) IBM </a:t>
            </a:r>
            <a:r>
              <a:rPr lang="en-US" sz="2000" b="1" dirty="0" err="1"/>
              <a:t>watsonx</a:t>
            </a:r>
            <a:r>
              <a:rPr lang="en-US" sz="2000" b="1" dirty="0"/>
              <a:t> AI Agent </a:t>
            </a:r>
            <a:r>
              <a:rPr lang="en-US" sz="2000" dirty="0"/>
              <a:t>- Processes user input using Granite models to generate personalized </a:t>
            </a:r>
            <a:r>
              <a:rPr lang="en-US" sz="2000" dirty="0" smtClean="0"/>
              <a:t>satellite communication insights </a:t>
            </a:r>
            <a:r>
              <a:rPr lang="en-US" sz="2000" dirty="0"/>
              <a:t>and recommendations. </a:t>
            </a:r>
          </a:p>
          <a:p>
            <a:endParaRPr lang="en-US" sz="2000" dirty="0"/>
          </a:p>
          <a:p>
            <a:r>
              <a:rPr lang="en-US" sz="2000" b="1" dirty="0"/>
              <a:t>3) Name of IBM Granite model</a:t>
            </a:r>
            <a:r>
              <a:rPr lang="en-US" sz="2000" dirty="0"/>
              <a:t> - Granite-4.0-8B-Instruct → Fast, efficient for real-time diet recommendations</a:t>
            </a:r>
          </a:p>
          <a:p>
            <a:endParaRPr lang="en-US" sz="2000" dirty="0"/>
          </a:p>
          <a:p>
            <a:r>
              <a:rPr lang="en-US" sz="2000" b="1" dirty="0"/>
              <a:t>4) Chat output </a:t>
            </a:r>
            <a:r>
              <a:rPr lang="en-US" sz="2000" dirty="0" smtClean="0"/>
              <a:t>- Displays </a:t>
            </a:r>
            <a:r>
              <a:rPr lang="en-US" sz="2000" dirty="0"/>
              <a:t>AI-generated responses such as </a:t>
            </a:r>
            <a:r>
              <a:rPr lang="en-US" sz="2000" dirty="0" smtClean="0"/>
              <a:t>definitions, explanations, </a:t>
            </a:r>
            <a:r>
              <a:rPr lang="en-US" sz="2000" dirty="0"/>
              <a:t>and </a:t>
            </a:r>
            <a:r>
              <a:rPr lang="en-US" sz="2000" dirty="0" smtClean="0"/>
              <a:t>summaries. </a:t>
            </a:r>
          </a:p>
          <a:p>
            <a:endParaRPr lang="en-US" sz="2000" dirty="0"/>
          </a:p>
          <a:p>
            <a:r>
              <a:rPr lang="en-US" sz="2000" b="1" dirty="0" smtClean="0"/>
              <a:t>5) File components </a:t>
            </a:r>
            <a:r>
              <a:rPr lang="en-US" sz="2000" dirty="0" smtClean="0"/>
              <a:t>– Stores and retrieves the textbook syllabus, research paper, MATLAB guide book for accurate explanations and summarizations.</a:t>
            </a:r>
            <a:endParaRPr lang="en-US" dirty="0"/>
          </a:p>
          <a:p>
            <a:endParaRPr lang="en-US"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xmlns=""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B64CF172-D2AF-03D8-F919-AA7827A0D969}"/>
              </a:ext>
            </a:extLst>
          </p:cNvPr>
          <p:cNvSpPr/>
          <p:nvPr/>
        </p:nvSpPr>
        <p:spPr>
          <a:xfrm>
            <a:off x="537590" y="212402"/>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800" b="1" dirty="0">
                <a:sym typeface="Times New Roman"/>
              </a:rPr>
              <a:t>Agent Instructions </a:t>
            </a:r>
            <a:r>
              <a:rPr lang="en-US" sz="2800" b="1" dirty="0" smtClean="0">
                <a:sym typeface="Times New Roman"/>
              </a:rPr>
              <a:t>Screenshot:</a:t>
            </a:r>
            <a:endParaRPr sz="2800" b="1" dirty="0">
              <a:sym typeface="Times New Roman"/>
            </a:endParaRPr>
          </a:p>
        </p:txBody>
      </p:sp>
      <p:pic>
        <p:nvPicPr>
          <p:cNvPr id="6" name="Picture 5">
            <a:extLst>
              <a:ext uri="{FF2B5EF4-FFF2-40B4-BE49-F238E27FC236}">
                <a16:creationId xmlns:a16="http://schemas.microsoft.com/office/drawing/2014/main" xmlns="" id="{4C7FC88A-B369-455A-F57A-122CC34E52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7590" y="771747"/>
            <a:ext cx="10937928" cy="5810236"/>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xmlns=""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B64CF172-D2AF-03D8-F919-AA7827A0D969}"/>
              </a:ext>
            </a:extLst>
          </p:cNvPr>
          <p:cNvSpPr/>
          <p:nvPr/>
        </p:nvSpPr>
        <p:spPr>
          <a:xfrm>
            <a:off x="537590" y="212402"/>
            <a:ext cx="5908929" cy="448508"/>
          </a:xfrm>
          <a:prstGeom prst="rect">
            <a:avLst/>
          </a:prstGeom>
          <a:noFill/>
          <a:ln>
            <a:noFill/>
          </a:ln>
        </p:spPr>
        <p:txBody>
          <a:bodyPr spcFirstLastPara="1" wrap="square" lIns="0" tIns="0" rIns="0" bIns="0" anchor="t" anchorCtr="0">
            <a:noAutofit/>
          </a:bodyPr>
          <a:lstStyle/>
          <a:p>
            <a:r>
              <a:rPr lang="en-US" sz="2800" b="1" dirty="0">
                <a:sym typeface="Times New Roman"/>
              </a:rPr>
              <a:t>Prompt with output Screenshot: </a:t>
            </a:r>
            <a:endParaRPr lang="en-US" sz="1600" dirty="0"/>
          </a:p>
        </p:txBody>
      </p:sp>
      <p:pic>
        <p:nvPicPr>
          <p:cNvPr id="6" name="Picture 5">
            <a:extLst>
              <a:ext uri="{FF2B5EF4-FFF2-40B4-BE49-F238E27FC236}">
                <a16:creationId xmlns:a16="http://schemas.microsoft.com/office/drawing/2014/main" xmlns="" id="{4C7FC88A-B369-455A-F57A-122CC34E52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3036" y="771747"/>
            <a:ext cx="10907035" cy="5810236"/>
          </a:xfrm>
          <a:prstGeom prst="rect">
            <a:avLst/>
          </a:prstGeom>
        </p:spPr>
      </p:pic>
    </p:spTree>
    <p:extLst>
      <p:ext uri="{BB962C8B-B14F-4D97-AF65-F5344CB8AC3E}">
        <p14:creationId xmlns:p14="http://schemas.microsoft.com/office/powerpoint/2010/main" val="11627892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xmlns=""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B64CF172-D2AF-03D8-F919-AA7827A0D969}"/>
              </a:ext>
            </a:extLst>
          </p:cNvPr>
          <p:cNvSpPr/>
          <p:nvPr/>
        </p:nvSpPr>
        <p:spPr>
          <a:xfrm>
            <a:off x="537590" y="212402"/>
            <a:ext cx="5908929" cy="448508"/>
          </a:xfrm>
          <a:prstGeom prst="rect">
            <a:avLst/>
          </a:prstGeom>
          <a:noFill/>
          <a:ln>
            <a:noFill/>
          </a:ln>
        </p:spPr>
        <p:txBody>
          <a:bodyPr spcFirstLastPara="1" wrap="square" lIns="0" tIns="0" rIns="0" bIns="0" anchor="t" anchorCtr="0">
            <a:noAutofit/>
          </a:bodyPr>
          <a:lstStyle/>
          <a:p>
            <a:r>
              <a:rPr lang="en-US" sz="2800" b="1" dirty="0">
                <a:sym typeface="Times New Roman"/>
              </a:rPr>
              <a:t>Prompt with output Screenshot: </a:t>
            </a:r>
            <a:endParaRPr lang="en-US" sz="1600" dirty="0"/>
          </a:p>
        </p:txBody>
      </p:sp>
      <p:pic>
        <p:nvPicPr>
          <p:cNvPr id="6" name="Picture 5">
            <a:extLst>
              <a:ext uri="{FF2B5EF4-FFF2-40B4-BE49-F238E27FC236}">
                <a16:creationId xmlns:a16="http://schemas.microsoft.com/office/drawing/2014/main" xmlns="" id="{4C7FC88A-B369-455A-F57A-122CC34E52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3036" y="963672"/>
            <a:ext cx="10907035" cy="5426385"/>
          </a:xfrm>
          <a:prstGeom prst="rect">
            <a:avLst/>
          </a:prstGeom>
        </p:spPr>
      </p:pic>
    </p:spTree>
    <p:extLst>
      <p:ext uri="{BB962C8B-B14F-4D97-AF65-F5344CB8AC3E}">
        <p14:creationId xmlns:p14="http://schemas.microsoft.com/office/powerpoint/2010/main" val="4351621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xmlns=""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B64CF172-D2AF-03D8-F919-AA7827A0D969}"/>
              </a:ext>
            </a:extLst>
          </p:cNvPr>
          <p:cNvSpPr/>
          <p:nvPr/>
        </p:nvSpPr>
        <p:spPr>
          <a:xfrm>
            <a:off x="537590" y="212402"/>
            <a:ext cx="5908929" cy="448508"/>
          </a:xfrm>
          <a:prstGeom prst="rect">
            <a:avLst/>
          </a:prstGeom>
          <a:noFill/>
          <a:ln>
            <a:noFill/>
          </a:ln>
        </p:spPr>
        <p:txBody>
          <a:bodyPr spcFirstLastPara="1" wrap="square" lIns="0" tIns="0" rIns="0" bIns="0" anchor="t" anchorCtr="0">
            <a:noAutofit/>
          </a:bodyPr>
          <a:lstStyle/>
          <a:p>
            <a:r>
              <a:rPr lang="en-US" sz="2800" b="1" dirty="0">
                <a:sym typeface="Times New Roman"/>
              </a:rPr>
              <a:t>Prompt with output Screenshot: </a:t>
            </a:r>
            <a:endParaRPr lang="en-US" sz="1600" dirty="0"/>
          </a:p>
        </p:txBody>
      </p:sp>
      <p:pic>
        <p:nvPicPr>
          <p:cNvPr id="6" name="Picture 5">
            <a:extLst>
              <a:ext uri="{FF2B5EF4-FFF2-40B4-BE49-F238E27FC236}">
                <a16:creationId xmlns:a16="http://schemas.microsoft.com/office/drawing/2014/main" xmlns="" id="{4C7FC88A-B369-455A-F57A-122CC34E52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3036" y="975562"/>
            <a:ext cx="10907035" cy="5402605"/>
          </a:xfrm>
          <a:prstGeom prst="rect">
            <a:avLst/>
          </a:prstGeom>
        </p:spPr>
      </p:pic>
    </p:spTree>
    <p:extLst>
      <p:ext uri="{BB962C8B-B14F-4D97-AF65-F5344CB8AC3E}">
        <p14:creationId xmlns:p14="http://schemas.microsoft.com/office/powerpoint/2010/main" val="33995576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xmlns="" id="{B84A7B44-8B20-5A39-ED43-DA98D0FC7976}"/>
              </a:ext>
            </a:extLst>
          </p:cNvPr>
          <p:cNvSpPr txBox="1"/>
          <p:nvPr/>
        </p:nvSpPr>
        <p:spPr>
          <a:xfrm>
            <a:off x="561920" y="486664"/>
            <a:ext cx="9317736" cy="523220"/>
          </a:xfrm>
          <a:prstGeom prst="rect">
            <a:avLst/>
          </a:prstGeom>
          <a:noFill/>
        </p:spPr>
        <p:txBody>
          <a:bodyPr wrap="square" rtlCol="0">
            <a:spAutoFit/>
          </a:bodyPr>
          <a:lstStyle/>
          <a:p>
            <a:r>
              <a:rPr lang="en-US" sz="2800" b="1" dirty="0"/>
              <a:t>Role of Agentic AI in the </a:t>
            </a:r>
            <a:r>
              <a:rPr lang="en-US" sz="2800" b="1" dirty="0" smtClean="0"/>
              <a:t>solution:</a:t>
            </a:r>
            <a:endParaRPr lang="en-IN" sz="2800" b="1" dirty="0"/>
          </a:p>
        </p:txBody>
      </p:sp>
      <p:sp>
        <p:nvSpPr>
          <p:cNvPr id="3" name="TextBox 2">
            <a:extLst>
              <a:ext uri="{FF2B5EF4-FFF2-40B4-BE49-F238E27FC236}">
                <a16:creationId xmlns:a16="http://schemas.microsoft.com/office/drawing/2014/main" xmlns="" id="{322462E8-EB3A-DA7D-44CB-4E757803A755}"/>
              </a:ext>
            </a:extLst>
          </p:cNvPr>
          <p:cNvSpPr txBox="1"/>
          <p:nvPr/>
        </p:nvSpPr>
        <p:spPr>
          <a:xfrm>
            <a:off x="561920" y="1282041"/>
            <a:ext cx="7406640" cy="3970318"/>
          </a:xfrm>
          <a:prstGeom prst="rect">
            <a:avLst/>
          </a:prstGeom>
          <a:noFill/>
        </p:spPr>
        <p:txBody>
          <a:bodyPr wrap="square" rtlCol="0">
            <a:spAutoFit/>
          </a:bodyPr>
          <a:lstStyle/>
          <a:p>
            <a:r>
              <a:rPr lang="en-US" sz="1800" b="1" dirty="0"/>
              <a:t>Role of Agentic AI in </a:t>
            </a:r>
            <a:r>
              <a:rPr lang="en-US" sz="1800" b="1" dirty="0" smtClean="0"/>
              <a:t>SatCom Assistance</a:t>
            </a:r>
          </a:p>
          <a:p>
            <a:endParaRPr lang="en-US" sz="1800" b="1" dirty="0"/>
          </a:p>
          <a:p>
            <a:r>
              <a:rPr lang="en-US" sz="1800" b="1" dirty="0"/>
              <a:t>Agentic AI</a:t>
            </a:r>
            <a:r>
              <a:rPr lang="en-US" sz="1800" dirty="0"/>
              <a:t> enables the </a:t>
            </a:r>
            <a:r>
              <a:rPr lang="en-US" sz="1800" b="1" dirty="0"/>
              <a:t>SatCom </a:t>
            </a:r>
            <a:r>
              <a:rPr lang="en-US" sz="1800" b="1" dirty="0" smtClean="0"/>
              <a:t>Assistant</a:t>
            </a:r>
            <a:r>
              <a:rPr lang="en-US" sz="1800" dirty="0" smtClean="0"/>
              <a:t> </a:t>
            </a:r>
            <a:r>
              <a:rPr lang="en-US" sz="1800" dirty="0"/>
              <a:t>to function as an intelligent, autonomous system rather than a simple </a:t>
            </a:r>
            <a:r>
              <a:rPr lang="en-US" sz="1800" dirty="0" err="1"/>
              <a:t>chatbot</a:t>
            </a:r>
            <a:r>
              <a:rPr lang="en-US" sz="1800" dirty="0"/>
              <a:t>. Using </a:t>
            </a:r>
            <a:r>
              <a:rPr lang="en-US" sz="1800" b="1" dirty="0"/>
              <a:t>IBM watsonx.ai</a:t>
            </a:r>
            <a:r>
              <a:rPr lang="en-US" sz="1800" dirty="0"/>
              <a:t> and </a:t>
            </a:r>
            <a:r>
              <a:rPr lang="en-US" sz="1800" b="1" dirty="0"/>
              <a:t>IBM Granite models</a:t>
            </a:r>
            <a:r>
              <a:rPr lang="en-US" sz="1800" dirty="0"/>
              <a:t>, it coordinates multiple specialized agents to deliver personalized </a:t>
            </a:r>
            <a:r>
              <a:rPr lang="en-US" sz="1800" dirty="0" smtClean="0"/>
              <a:t>knowledge assistance.</a:t>
            </a:r>
            <a:endParaRPr lang="en-US" sz="1800" dirty="0"/>
          </a:p>
          <a:p>
            <a:r>
              <a:rPr lang="en-US" sz="1800" dirty="0" smtClean="0"/>
              <a:t>It retrieves satellite communication data</a:t>
            </a:r>
            <a:r>
              <a:rPr lang="en-US" sz="1800" dirty="0"/>
              <a:t>, </a:t>
            </a:r>
            <a:r>
              <a:rPr lang="en-US" sz="1800" dirty="0" smtClean="0"/>
              <a:t>generates study plans</a:t>
            </a:r>
            <a:r>
              <a:rPr lang="en-US" sz="1800" dirty="0"/>
              <a:t>, </a:t>
            </a:r>
            <a:r>
              <a:rPr lang="en-US" sz="1800" dirty="0" smtClean="0"/>
              <a:t>provides necessary information, </a:t>
            </a:r>
            <a:r>
              <a:rPr lang="en-US" sz="1800" dirty="0"/>
              <a:t>and </a:t>
            </a:r>
            <a:r>
              <a:rPr lang="en-US" sz="1800" dirty="0" smtClean="0"/>
              <a:t>gives summaries using the textbooks and research papers. This </a:t>
            </a:r>
            <a:r>
              <a:rPr lang="en-US" sz="1800" b="1" dirty="0"/>
              <a:t>multi-agent approach</a:t>
            </a:r>
            <a:r>
              <a:rPr lang="en-US" sz="1800" dirty="0"/>
              <a:t> ensures efficient </a:t>
            </a:r>
            <a:r>
              <a:rPr lang="en-US" sz="1800" dirty="0" smtClean="0"/>
              <a:t>knowledge gain and </a:t>
            </a:r>
            <a:r>
              <a:rPr lang="en-US" sz="1800" dirty="0"/>
              <a:t>accurate </a:t>
            </a:r>
            <a:r>
              <a:rPr lang="en-US" sz="1800" dirty="0" smtClean="0"/>
              <a:t>information.</a:t>
            </a:r>
            <a:endParaRPr lang="en-US" sz="1800" dirty="0"/>
          </a:p>
          <a:p>
            <a:endParaRPr lang="en-US" sz="1800" dirty="0" smtClean="0"/>
          </a:p>
          <a:p>
            <a:r>
              <a:rPr lang="en-US" sz="1800" dirty="0" smtClean="0"/>
              <a:t>Overall</a:t>
            </a:r>
            <a:r>
              <a:rPr lang="en-US" sz="1800" dirty="0"/>
              <a:t>, Agentic AI makes the system proactive, personalized, and goal-driven, acting like a </a:t>
            </a:r>
            <a:r>
              <a:rPr lang="en-US" sz="1800" b="1" dirty="0"/>
              <a:t>smart digital </a:t>
            </a:r>
            <a:r>
              <a:rPr lang="en-US" sz="1800" b="1" dirty="0" smtClean="0"/>
              <a:t>assistant </a:t>
            </a:r>
            <a:r>
              <a:rPr lang="en-US" sz="1800" dirty="0" smtClean="0"/>
              <a:t>that </a:t>
            </a:r>
            <a:r>
              <a:rPr lang="en-US" sz="1800" dirty="0"/>
              <a:t>helps users </a:t>
            </a:r>
            <a:r>
              <a:rPr lang="en-US" sz="1800" dirty="0" smtClean="0"/>
              <a:t>understand complex concepts easily.</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6FA184BA-BCF2-3D7B-30D0-0F3CF30C161B}"/>
              </a:ext>
            </a:extLst>
          </p:cNvPr>
          <p:cNvSpPr txBox="1"/>
          <p:nvPr/>
        </p:nvSpPr>
        <p:spPr>
          <a:xfrm>
            <a:off x="777240" y="475396"/>
            <a:ext cx="7123176" cy="523220"/>
          </a:xfrm>
          <a:prstGeom prst="rect">
            <a:avLst/>
          </a:prstGeom>
          <a:noFill/>
        </p:spPr>
        <p:txBody>
          <a:bodyPr wrap="square" rtlCol="0">
            <a:spAutoFit/>
          </a:bodyPr>
          <a:lstStyle/>
          <a:p>
            <a:r>
              <a:rPr lang="en-US" sz="2800" b="1" dirty="0"/>
              <a:t>Novelty and </a:t>
            </a:r>
            <a:r>
              <a:rPr lang="en-US" sz="2800" b="1" dirty="0" smtClean="0"/>
              <a:t>Uniqueness:</a:t>
            </a:r>
            <a:endParaRPr lang="en-IN" sz="2800" b="1" dirty="0"/>
          </a:p>
        </p:txBody>
      </p:sp>
      <p:sp>
        <p:nvSpPr>
          <p:cNvPr id="3" name="TextBox 2">
            <a:extLst>
              <a:ext uri="{FF2B5EF4-FFF2-40B4-BE49-F238E27FC236}">
                <a16:creationId xmlns:a16="http://schemas.microsoft.com/office/drawing/2014/main" xmlns="" id="{ED65F54F-855A-0DB6-09A6-3212C5F7405B}"/>
              </a:ext>
            </a:extLst>
          </p:cNvPr>
          <p:cNvSpPr txBox="1"/>
          <p:nvPr/>
        </p:nvSpPr>
        <p:spPr>
          <a:xfrm>
            <a:off x="777240" y="1207008"/>
            <a:ext cx="11301984" cy="4739759"/>
          </a:xfrm>
          <a:prstGeom prst="rect">
            <a:avLst/>
          </a:prstGeom>
          <a:noFill/>
        </p:spPr>
        <p:txBody>
          <a:bodyPr wrap="square" rtlCol="0">
            <a:spAutoFit/>
          </a:bodyPr>
          <a:lstStyle/>
          <a:p>
            <a:r>
              <a:rPr lang="en-IN" sz="1800" dirty="0"/>
              <a:t>The proposed </a:t>
            </a:r>
            <a:r>
              <a:rPr lang="en-IN" sz="1800" dirty="0" err="1" smtClean="0"/>
              <a:t>SatCom</a:t>
            </a:r>
            <a:r>
              <a:rPr lang="en-IN" sz="1800" dirty="0" smtClean="0"/>
              <a:t> Agent </a:t>
            </a:r>
            <a:r>
              <a:rPr lang="en-IN" sz="1800" dirty="0"/>
              <a:t>stands out by combining </a:t>
            </a:r>
            <a:r>
              <a:rPr lang="en-IN" sz="1800" b="1" dirty="0"/>
              <a:t>Agentic AI, RAG, and personalization</a:t>
            </a:r>
            <a:r>
              <a:rPr lang="en-IN" sz="1800" dirty="0"/>
              <a:t> into a single intelligent system.</a:t>
            </a:r>
          </a:p>
          <a:p>
            <a:endParaRPr lang="en-IN" sz="1800" dirty="0"/>
          </a:p>
          <a:p>
            <a:r>
              <a:rPr lang="en-IN" sz="1800" b="1" dirty="0"/>
              <a:t>Multi-Agent Intelligence</a:t>
            </a:r>
            <a:r>
              <a:rPr lang="en-IN" sz="1800" dirty="0"/>
              <a:t> – Instead of a single </a:t>
            </a:r>
            <a:r>
              <a:rPr lang="en-IN" sz="1800" dirty="0" err="1"/>
              <a:t>chatbot</a:t>
            </a:r>
            <a:r>
              <a:rPr lang="en-IN" sz="1800" dirty="0"/>
              <a:t>, multiple specialized agents collaborate to deliver accurate and context-aware </a:t>
            </a:r>
            <a:r>
              <a:rPr lang="en-IN" sz="1800" dirty="0" smtClean="0"/>
              <a:t>knowledge assistance. </a:t>
            </a:r>
            <a:endParaRPr lang="en-IN" sz="1800" dirty="0"/>
          </a:p>
          <a:p>
            <a:r>
              <a:rPr lang="en-IN" sz="1800" b="1" dirty="0"/>
              <a:t>RAG-Based Accuracy</a:t>
            </a:r>
            <a:r>
              <a:rPr lang="en-IN" sz="1800" dirty="0"/>
              <a:t> – Integrates real-time data retrieval with AI generation, reducing misinformation and ensuring </a:t>
            </a:r>
            <a:r>
              <a:rPr lang="en-IN" sz="1800" dirty="0" smtClean="0"/>
              <a:t>accurate information. </a:t>
            </a:r>
            <a:endParaRPr lang="en-IN" sz="1800" dirty="0"/>
          </a:p>
          <a:p>
            <a:r>
              <a:rPr lang="en-IN" sz="1800" b="1" dirty="0"/>
              <a:t>Hyper-Personalization</a:t>
            </a:r>
            <a:r>
              <a:rPr lang="en-IN" sz="1800" dirty="0"/>
              <a:t> – Tailors </a:t>
            </a:r>
            <a:r>
              <a:rPr lang="en-IN" sz="1800" dirty="0" smtClean="0"/>
              <a:t>study plans </a:t>
            </a:r>
            <a:r>
              <a:rPr lang="en-IN" sz="1800" dirty="0"/>
              <a:t>based on </a:t>
            </a:r>
            <a:r>
              <a:rPr lang="en-IN" sz="1800" dirty="0" smtClean="0"/>
              <a:t>syllabus, research papers, </a:t>
            </a:r>
            <a:r>
              <a:rPr lang="en-IN" sz="1800" dirty="0"/>
              <a:t>and </a:t>
            </a:r>
            <a:r>
              <a:rPr lang="en-IN" sz="1800" dirty="0" smtClean="0"/>
              <a:t>textbooks. </a:t>
            </a:r>
            <a:endParaRPr lang="en-IN" sz="1800" dirty="0"/>
          </a:p>
          <a:p>
            <a:r>
              <a:rPr lang="en-IN" sz="1800" b="1" dirty="0"/>
              <a:t>Real-Time Feedback Loop</a:t>
            </a:r>
            <a:r>
              <a:rPr lang="en-IN" sz="1800" dirty="0"/>
              <a:t> – Continuously adapts recommendations based on daily </a:t>
            </a:r>
            <a:r>
              <a:rPr lang="en-IN" sz="1800" dirty="0" smtClean="0"/>
              <a:t>query logs </a:t>
            </a:r>
            <a:r>
              <a:rPr lang="en-IN" sz="1800" dirty="0"/>
              <a:t>and user </a:t>
            </a:r>
            <a:r>
              <a:rPr lang="en-IN" sz="1800" dirty="0" err="1"/>
              <a:t>behavior</a:t>
            </a:r>
            <a:r>
              <a:rPr lang="en-IN" sz="1800" dirty="0"/>
              <a:t>. </a:t>
            </a:r>
          </a:p>
          <a:p>
            <a:r>
              <a:rPr lang="en-IN" sz="1800" b="1" dirty="0"/>
              <a:t>Multi-Modal Input</a:t>
            </a:r>
            <a:r>
              <a:rPr lang="en-IN" sz="1800" dirty="0"/>
              <a:t> – Supports text, </a:t>
            </a:r>
            <a:r>
              <a:rPr lang="en-IN" sz="1800" dirty="0" smtClean="0"/>
              <a:t>doc, </a:t>
            </a:r>
            <a:r>
              <a:rPr lang="en-IN" sz="1800" dirty="0"/>
              <a:t>and image-based </a:t>
            </a:r>
            <a:r>
              <a:rPr lang="en-IN" sz="1800" dirty="0" smtClean="0"/>
              <a:t>information tracking </a:t>
            </a:r>
            <a:r>
              <a:rPr lang="en-IN" sz="1800" dirty="0"/>
              <a:t>for better usability. </a:t>
            </a:r>
          </a:p>
          <a:p>
            <a:r>
              <a:rPr lang="en-IN" sz="1800" b="1" dirty="0" smtClean="0"/>
              <a:t>Scalable </a:t>
            </a:r>
            <a:r>
              <a:rPr lang="en-IN" sz="1800" b="1" dirty="0"/>
              <a:t>&amp; Enterprise-Ready</a:t>
            </a:r>
            <a:r>
              <a:rPr lang="en-IN" sz="1800" dirty="0"/>
              <a:t> – Built on </a:t>
            </a:r>
            <a:r>
              <a:rPr lang="en-IN" sz="1800" b="1" dirty="0"/>
              <a:t>IBM watsonx.ai</a:t>
            </a:r>
            <a:r>
              <a:rPr lang="en-IN" sz="1800" dirty="0"/>
              <a:t> with </a:t>
            </a:r>
            <a:r>
              <a:rPr lang="en-IN" sz="1800" b="1" dirty="0"/>
              <a:t>IBM Granite models</a:t>
            </a:r>
            <a:r>
              <a:rPr lang="en-IN" sz="1800" dirty="0"/>
              <a:t>, ensuring reliability and governance. </a:t>
            </a:r>
          </a:p>
          <a:p>
            <a:endParaRPr lang="en-IN" sz="1800" dirty="0"/>
          </a:p>
          <a:p>
            <a:r>
              <a:rPr lang="en-IN" sz="1800" dirty="0"/>
              <a:t>This makes the solution a </a:t>
            </a:r>
            <a:r>
              <a:rPr lang="en-IN" sz="1800" b="1" dirty="0"/>
              <a:t>smart, adaptive, and proactive digital </a:t>
            </a:r>
            <a:r>
              <a:rPr lang="en-IN" sz="1800" b="1" dirty="0" smtClean="0"/>
              <a:t>assistant</a:t>
            </a:r>
            <a:r>
              <a:rPr lang="en-IN" sz="1800" dirty="0" smtClean="0"/>
              <a:t>, </a:t>
            </a:r>
            <a:r>
              <a:rPr lang="en-IN" sz="1800" dirty="0"/>
              <a:t>not just a static </a:t>
            </a:r>
            <a:r>
              <a:rPr lang="en-IN" sz="1800" dirty="0" smtClean="0"/>
              <a:t>study recommendation </a:t>
            </a:r>
            <a:r>
              <a:rPr lang="en-IN" sz="1800" dirty="0"/>
              <a:t>tool.</a:t>
            </a:r>
            <a:endParaRPr lang="en-US"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smtClean="0">
                <a:sym typeface="Times New Roman"/>
              </a:rPr>
              <a:t>GitHub Link:</a:t>
            </a:r>
            <a:endParaRPr sz="2800" b="1" dirty="0">
              <a:sym typeface="Times New Roman"/>
            </a:endParaRPr>
          </a:p>
        </p:txBody>
      </p:sp>
      <p:sp>
        <p:nvSpPr>
          <p:cNvPr id="279" name="Google Shape;279;p18">
            <a:extLst>
              <a:ext uri="{FF2B5EF4-FFF2-40B4-BE49-F238E27FC236}">
                <a16:creationId xmlns:a16="http://schemas.microsoft.com/office/drawing/2014/main" xmlns=""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2000" dirty="0" smtClean="0">
                <a:solidFill>
                  <a:srgbClr val="2B3541"/>
                </a:solidFill>
                <a:latin typeface="Times New Roman"/>
                <a:ea typeface="Times New Roman"/>
                <a:cs typeface="Times New Roman"/>
                <a:sym typeface="Times New Roman"/>
              </a:rPr>
              <a:t>https</a:t>
            </a:r>
            <a:r>
              <a:rPr lang="en-US" sz="2000" dirty="0">
                <a:solidFill>
                  <a:srgbClr val="2B3541"/>
                </a:solidFill>
                <a:latin typeface="Times New Roman"/>
                <a:ea typeface="Times New Roman"/>
                <a:cs typeface="Times New Roman"/>
                <a:sym typeface="Times New Roman"/>
              </a:rPr>
              <a:t>://</a:t>
            </a:r>
            <a:r>
              <a:rPr lang="en-US" sz="2000" dirty="0" smtClean="0">
                <a:solidFill>
                  <a:srgbClr val="2B3541"/>
                </a:solidFill>
                <a:latin typeface="Times New Roman"/>
                <a:ea typeface="Times New Roman"/>
                <a:cs typeface="Times New Roman"/>
                <a:sym typeface="Times New Roman"/>
              </a:rPr>
              <a:t>github.com/lhsisequaltorhs/Smart-Satellite-Communication-Knowledge-Assistant</a:t>
            </a:r>
            <a:endParaRPr lang="en-US" sz="2000" dirty="0">
              <a:solidFill>
                <a:srgbClr val="2B3541"/>
              </a:solidFill>
              <a:latin typeface="Times New Roman"/>
              <a:ea typeface="Times New Roman"/>
              <a:cs typeface="Times New Roman"/>
            </a:endParaRPr>
          </a:p>
        </p:txBody>
      </p:sp>
      <p:sp>
        <p:nvSpPr>
          <p:cNvPr id="280" name="Google Shape;280;p18">
            <a:extLst>
              <a:ext uri="{FF2B5EF4-FFF2-40B4-BE49-F238E27FC236}">
                <a16:creationId xmlns:a16="http://schemas.microsoft.com/office/drawing/2014/main" xmlns=""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0668C6FD-577A-7288-5642-1AFC22BD04F2}"/>
              </a:ext>
            </a:extLst>
          </p:cNvPr>
          <p:cNvSpPr/>
          <p:nvPr/>
        </p:nvSpPr>
        <p:spPr>
          <a:xfrm>
            <a:off x="1043233" y="180494"/>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Future </a:t>
            </a:r>
            <a:r>
              <a:rPr lang="en-US" sz="2800" b="1" dirty="0" smtClean="0">
                <a:sym typeface="Times New Roman"/>
              </a:rPr>
              <a:t>Scope: </a:t>
            </a:r>
            <a:endParaRPr sz="2800" b="1" dirty="0">
              <a:sym typeface="Times New Roman"/>
            </a:endParaRPr>
          </a:p>
        </p:txBody>
      </p:sp>
      <p:sp>
        <p:nvSpPr>
          <p:cNvPr id="279" name="Google Shape;279;p18">
            <a:extLst>
              <a:ext uri="{FF2B5EF4-FFF2-40B4-BE49-F238E27FC236}">
                <a16:creationId xmlns:a16="http://schemas.microsoft.com/office/drawing/2014/main" xmlns="" id="{EAFA16CB-0A72-5AC5-69A0-ABF4A752B43F}"/>
              </a:ext>
            </a:extLst>
          </p:cNvPr>
          <p:cNvSpPr/>
          <p:nvPr/>
        </p:nvSpPr>
        <p:spPr>
          <a:xfrm>
            <a:off x="1043233" y="905499"/>
            <a:ext cx="9214580" cy="4277001"/>
          </a:xfrm>
          <a:prstGeom prst="rect">
            <a:avLst/>
          </a:prstGeom>
          <a:noFill/>
          <a:ln>
            <a:noFill/>
          </a:ln>
        </p:spPr>
        <p:txBody>
          <a:bodyPr spcFirstLastPara="1" wrap="square" lIns="0" tIns="0" rIns="0" bIns="0" anchor="t" anchorCtr="0">
            <a:noAutofit/>
          </a:bodyPr>
          <a:lstStyle/>
          <a:p>
            <a:r>
              <a:rPr lang="en-US" sz="1800" dirty="0" smtClean="0"/>
              <a:t>The Smart Satellite Communication Knowledge Assistant has significant potential for future enhancements, allowing it to evolve into a comprehensive learning and professional support platform. Possible future developments include:</a:t>
            </a:r>
          </a:p>
          <a:p>
            <a:endParaRPr lang="en-US" sz="1800" dirty="0" smtClean="0"/>
          </a:p>
          <a:p>
            <a:pPr marL="342900" indent="-342900">
              <a:buFont typeface="Arial" panose="020B0604020202020204" pitchFamily="34" charset="0"/>
              <a:buChar char="•"/>
            </a:pPr>
            <a:r>
              <a:rPr lang="en-US" sz="1800" b="1" dirty="0" smtClean="0"/>
              <a:t>Personalized Learning:</a:t>
            </a:r>
            <a:r>
              <a:rPr lang="en-US" sz="1800" dirty="0" smtClean="0"/>
              <a:t> Recommend study plans, quizzes, and learning resources based on the user's knowledge level and progress. </a:t>
            </a:r>
          </a:p>
          <a:p>
            <a:pPr marL="342900" indent="-342900">
              <a:buFont typeface="Arial" panose="020B0604020202020204" pitchFamily="34" charset="0"/>
              <a:buChar char="•"/>
            </a:pPr>
            <a:r>
              <a:rPr lang="en-US" sz="1800" b="1" dirty="0" smtClean="0"/>
              <a:t>Interactive Simulations:</a:t>
            </a:r>
            <a:r>
              <a:rPr lang="en-US" sz="1800" dirty="0" smtClean="0"/>
              <a:t> Incorporate visual demonstrations of satellite orbits, signal propagation, link budgets, and communication systems to improve conceptual understanding. </a:t>
            </a:r>
          </a:p>
          <a:p>
            <a:pPr marL="342900" indent="-342900">
              <a:buFont typeface="Arial" panose="020B0604020202020204" pitchFamily="34" charset="0"/>
              <a:buChar char="•"/>
            </a:pPr>
            <a:r>
              <a:rPr lang="en-US" sz="1800" b="1" dirty="0" smtClean="0"/>
              <a:t>Integration with Real-Time Satellite Data:</a:t>
            </a:r>
            <a:r>
              <a:rPr lang="en-US" sz="1800" dirty="0" smtClean="0"/>
              <a:t> Connect to live satellite tracking services and space weather data to provide current information about satellites, launches, and orbital events. </a:t>
            </a:r>
          </a:p>
          <a:p>
            <a:pPr marL="342900" indent="-342900">
              <a:buFont typeface="Arial" panose="020B0604020202020204" pitchFamily="34" charset="0"/>
              <a:buChar char="•"/>
            </a:pPr>
            <a:r>
              <a:rPr lang="en-US" sz="1800" b="1" dirty="0" smtClean="0"/>
              <a:t>Academic Assistance:</a:t>
            </a:r>
            <a:r>
              <a:rPr lang="en-US" sz="1800" dirty="0" smtClean="0"/>
              <a:t> Expand support for solving numerical problems, generating practice questions, explaining mathematical derivations, and assisting with assignments related to satellite communication. </a:t>
            </a:r>
          </a:p>
          <a:p>
            <a:pPr marL="342900" indent="-342900">
              <a:buFont typeface="Arial" panose="020B0604020202020204" pitchFamily="34" charset="0"/>
              <a:buChar char="•"/>
            </a:pPr>
            <a:r>
              <a:rPr lang="en-US" sz="1800" b="1" dirty="0" smtClean="0"/>
              <a:t>Industry Applications:</a:t>
            </a:r>
            <a:r>
              <a:rPr lang="en-US" sz="1800" dirty="0" smtClean="0"/>
              <a:t> Provide troubleshooting guidance, standards documentation, and technical references for engineers and professionals working in satellite communications. </a:t>
            </a:r>
          </a:p>
          <a:p>
            <a:pPr marL="342900" indent="-342900">
              <a:buFont typeface="Arial" panose="020B0604020202020204" pitchFamily="34" charset="0"/>
              <a:buChar char="•"/>
            </a:pPr>
            <a:r>
              <a:rPr lang="en-US" sz="1800" b="1" dirty="0" err="1" smtClean="0"/>
              <a:t>IoT</a:t>
            </a:r>
            <a:r>
              <a:rPr lang="en-US" sz="1800" b="1" dirty="0" smtClean="0"/>
              <a:t> and 5G/6G Integration:</a:t>
            </a:r>
            <a:r>
              <a:rPr lang="en-US" sz="1800" dirty="0" smtClean="0"/>
              <a:t> Include knowledge related to satellite-enabled </a:t>
            </a:r>
            <a:r>
              <a:rPr lang="en-US" sz="1800" dirty="0" err="1" smtClean="0"/>
              <a:t>IoT</a:t>
            </a:r>
            <a:r>
              <a:rPr lang="en-US" sz="1800" dirty="0" smtClean="0"/>
              <a:t> networks, non-terrestrial networks (NTN), and future 6G satellite communication technologies. </a:t>
            </a:r>
          </a:p>
        </p:txBody>
      </p:sp>
      <p:sp>
        <p:nvSpPr>
          <p:cNvPr id="280" name="Google Shape;280;p18">
            <a:extLst>
              <a:ext uri="{FF2B5EF4-FFF2-40B4-BE49-F238E27FC236}">
                <a16:creationId xmlns:a16="http://schemas.microsoft.com/office/drawing/2014/main" xmlns=""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3F1C7BCA-5DD7-F4D3-A937-D1C56976DA01}"/>
              </a:ext>
            </a:extLst>
          </p:cNvPr>
          <p:cNvSpPr txBox="1"/>
          <p:nvPr/>
        </p:nvSpPr>
        <p:spPr>
          <a:xfrm>
            <a:off x="706640" y="315337"/>
            <a:ext cx="6096000"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 Earned:</a:t>
            </a:r>
          </a:p>
          <a:p>
            <a:pPr algn="ctr"/>
            <a:endParaRPr lang="en-US" sz="1600" dirty="0"/>
          </a:p>
        </p:txBody>
      </p:sp>
      <p:pic>
        <p:nvPicPr>
          <p:cNvPr id="4" name="Picture 3">
            <a:extLst>
              <a:ext uri="{FF2B5EF4-FFF2-40B4-BE49-F238E27FC236}">
                <a16:creationId xmlns:a16="http://schemas.microsoft.com/office/drawing/2014/main" xmlns="" id="{A037CFD0-B7FF-D9BE-3433-88E5844EF3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3909" y="1223323"/>
            <a:ext cx="7003449" cy="5309259"/>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3F1C7BCA-5DD7-F4D3-A937-D1C56976DA01}"/>
              </a:ext>
            </a:extLst>
          </p:cNvPr>
          <p:cNvSpPr txBox="1"/>
          <p:nvPr/>
        </p:nvSpPr>
        <p:spPr>
          <a:xfrm>
            <a:off x="706640" y="315337"/>
            <a:ext cx="6096000"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 Earned:</a:t>
            </a:r>
          </a:p>
          <a:p>
            <a:pPr algn="ctr"/>
            <a:endParaRPr lang="en-US" sz="1600" dirty="0"/>
          </a:p>
        </p:txBody>
      </p:sp>
      <p:pic>
        <p:nvPicPr>
          <p:cNvPr id="4" name="Picture 3">
            <a:extLst>
              <a:ext uri="{FF2B5EF4-FFF2-40B4-BE49-F238E27FC236}">
                <a16:creationId xmlns:a16="http://schemas.microsoft.com/office/drawing/2014/main" xmlns="" id="{A037CFD0-B7FF-D9BE-3433-88E5844EF3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3909" y="1253898"/>
            <a:ext cx="7003449" cy="5248109"/>
          </a:xfrm>
          <a:prstGeom prst="rect">
            <a:avLst/>
          </a:prstGeom>
        </p:spPr>
      </p:pic>
    </p:spTree>
    <p:extLst>
      <p:ext uri="{BB962C8B-B14F-4D97-AF65-F5344CB8AC3E}">
        <p14:creationId xmlns:p14="http://schemas.microsoft.com/office/powerpoint/2010/main" val="8774316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3F1C7BCA-5DD7-F4D3-A937-D1C56976DA01}"/>
              </a:ext>
            </a:extLst>
          </p:cNvPr>
          <p:cNvSpPr txBox="1"/>
          <p:nvPr/>
        </p:nvSpPr>
        <p:spPr>
          <a:xfrm>
            <a:off x="706640" y="315337"/>
            <a:ext cx="6096000"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 Earned:</a:t>
            </a:r>
          </a:p>
          <a:p>
            <a:pPr algn="ctr"/>
            <a:endParaRPr lang="en-US" sz="1600" dirty="0"/>
          </a:p>
        </p:txBody>
      </p:sp>
      <p:pic>
        <p:nvPicPr>
          <p:cNvPr id="4" name="Picture 3">
            <a:extLst>
              <a:ext uri="{FF2B5EF4-FFF2-40B4-BE49-F238E27FC236}">
                <a16:creationId xmlns:a16="http://schemas.microsoft.com/office/drawing/2014/main" xmlns="" id="{A037CFD0-B7FF-D9BE-3433-88E5844EF3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3909" y="1253898"/>
            <a:ext cx="7003449" cy="5248109"/>
          </a:xfrm>
          <a:prstGeom prst="rect">
            <a:avLst/>
          </a:prstGeom>
        </p:spPr>
      </p:pic>
    </p:spTree>
    <p:extLst>
      <p:ext uri="{BB962C8B-B14F-4D97-AF65-F5344CB8AC3E}">
        <p14:creationId xmlns:p14="http://schemas.microsoft.com/office/powerpoint/2010/main" val="23484357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3F1C7BCA-5DD7-F4D3-A937-D1C56976DA01}"/>
              </a:ext>
            </a:extLst>
          </p:cNvPr>
          <p:cNvSpPr txBox="1"/>
          <p:nvPr/>
        </p:nvSpPr>
        <p:spPr>
          <a:xfrm>
            <a:off x="706640" y="315337"/>
            <a:ext cx="6096000"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 Earned:</a:t>
            </a:r>
          </a:p>
          <a:p>
            <a:pPr algn="ctr"/>
            <a:endParaRPr lang="en-US" sz="1600" dirty="0"/>
          </a:p>
        </p:txBody>
      </p:sp>
      <p:pic>
        <p:nvPicPr>
          <p:cNvPr id="4" name="Picture 3">
            <a:extLst>
              <a:ext uri="{FF2B5EF4-FFF2-40B4-BE49-F238E27FC236}">
                <a16:creationId xmlns:a16="http://schemas.microsoft.com/office/drawing/2014/main" xmlns="" id="{A037CFD0-B7FF-D9BE-3433-88E5844EF3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1351" y="1084778"/>
            <a:ext cx="9334990" cy="5149849"/>
          </a:xfrm>
          <a:prstGeom prst="rect">
            <a:avLst/>
          </a:prstGeom>
        </p:spPr>
      </p:pic>
    </p:spTree>
    <p:extLst>
      <p:ext uri="{BB962C8B-B14F-4D97-AF65-F5344CB8AC3E}">
        <p14:creationId xmlns:p14="http://schemas.microsoft.com/office/powerpoint/2010/main" val="8703810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3F1C7BCA-5DD7-F4D3-A937-D1C56976DA01}"/>
              </a:ext>
            </a:extLst>
          </p:cNvPr>
          <p:cNvSpPr txBox="1"/>
          <p:nvPr/>
        </p:nvSpPr>
        <p:spPr>
          <a:xfrm>
            <a:off x="706640" y="315337"/>
            <a:ext cx="6096000"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 Earned:</a:t>
            </a:r>
          </a:p>
          <a:p>
            <a:pPr algn="ctr"/>
            <a:endParaRPr lang="en-US" sz="1600" dirty="0"/>
          </a:p>
        </p:txBody>
      </p:sp>
      <p:pic>
        <p:nvPicPr>
          <p:cNvPr id="4" name="Picture 3">
            <a:extLst>
              <a:ext uri="{FF2B5EF4-FFF2-40B4-BE49-F238E27FC236}">
                <a16:creationId xmlns:a16="http://schemas.microsoft.com/office/drawing/2014/main" xmlns="" id="{A037CFD0-B7FF-D9BE-3433-88E5844EF3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1351" y="1103188"/>
            <a:ext cx="9334990" cy="5113028"/>
          </a:xfrm>
          <a:prstGeom prst="rect">
            <a:avLst/>
          </a:prstGeom>
        </p:spPr>
      </p:pic>
    </p:spTree>
    <p:extLst>
      <p:ext uri="{BB962C8B-B14F-4D97-AF65-F5344CB8AC3E}">
        <p14:creationId xmlns:p14="http://schemas.microsoft.com/office/powerpoint/2010/main" val="10695595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3F1C7BCA-5DD7-F4D3-A937-D1C56976DA01}"/>
              </a:ext>
            </a:extLst>
          </p:cNvPr>
          <p:cNvSpPr txBox="1"/>
          <p:nvPr/>
        </p:nvSpPr>
        <p:spPr>
          <a:xfrm>
            <a:off x="706640" y="315337"/>
            <a:ext cx="6096000"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 Earned:</a:t>
            </a:r>
          </a:p>
          <a:p>
            <a:pPr algn="ctr"/>
            <a:endParaRPr lang="en-US" sz="1600" dirty="0"/>
          </a:p>
        </p:txBody>
      </p:sp>
      <p:pic>
        <p:nvPicPr>
          <p:cNvPr id="4" name="Picture 3">
            <a:extLst>
              <a:ext uri="{FF2B5EF4-FFF2-40B4-BE49-F238E27FC236}">
                <a16:creationId xmlns:a16="http://schemas.microsoft.com/office/drawing/2014/main" xmlns="" id="{A037CFD0-B7FF-D9BE-3433-88E5844EF3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1351" y="1102850"/>
            <a:ext cx="9334990" cy="5113704"/>
          </a:xfrm>
          <a:prstGeom prst="rect">
            <a:avLst/>
          </a:prstGeom>
        </p:spPr>
      </p:pic>
    </p:spTree>
    <p:extLst>
      <p:ext uri="{BB962C8B-B14F-4D97-AF65-F5344CB8AC3E}">
        <p14:creationId xmlns:p14="http://schemas.microsoft.com/office/powerpoint/2010/main" val="21442993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303</TotalTime>
  <Words>971</Words>
  <Application>Microsoft Office PowerPoint</Application>
  <PresentationFormat>Widescreen</PresentationFormat>
  <Paragraphs>97</Paragraphs>
  <Slides>21</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Microsoft account</cp:lastModifiedBy>
  <cp:revision>113</cp:revision>
  <dcterms:created xsi:type="dcterms:W3CDTF">2025-07-08T05:06:56Z</dcterms:created>
  <dcterms:modified xsi:type="dcterms:W3CDTF">2026-06-28T16:37:39Z</dcterms:modified>
</cp:coreProperties>
</file>